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Space Grotesk Light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SpaceGroteskLight-bold.fntdata"/><Relationship Id="rId27" Type="http://schemas.openxmlformats.org/officeDocument/2006/relationships/font" Target="fonts/SpaceGrotesk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485cef5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485cef5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485cef59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485cef5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485cef59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485cef59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485cef59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d485cef59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485cef59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485cef59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485cef59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d485cef59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485cef59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d485cef59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485cef59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485cef59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485cef59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485cef59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485cef59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d485cef59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485cef59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485cef59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485cef59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485cef59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485cef595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485cef595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485cef59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485cef59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485cef59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d485cef59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485cef59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485cef59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485cef595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d485cef595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7504800" cy="18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2"/>
                </a:solidFill>
              </a:rPr>
              <a:t>AUTOMATED EVALUATION OF DYNAMIC TOPIC MODELS USING LLMs.</a:t>
            </a:r>
            <a:endParaRPr sz="4700"/>
          </a:p>
        </p:txBody>
      </p:sp>
      <p:sp>
        <p:nvSpPr>
          <p:cNvPr id="320" name="Google Shape;320;p38"/>
          <p:cNvSpPr txBox="1"/>
          <p:nvPr>
            <p:ph idx="2" type="title"/>
          </p:nvPr>
        </p:nvSpPr>
        <p:spPr>
          <a:xfrm>
            <a:off x="3044300" y="2369125"/>
            <a:ext cx="7577700" cy="269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 </a:t>
            </a:r>
            <a:r>
              <a:rPr lang="en" sz="2700"/>
              <a:t>COMPARATIVE</a:t>
            </a:r>
            <a:r>
              <a:rPr lang="en" sz="2700"/>
              <a:t> STUDY WITH HUMAN JUDGEMENT AND TEMPORAL METRICS.</a:t>
            </a:r>
            <a:endParaRPr sz="2700"/>
          </a:p>
        </p:txBody>
      </p:sp>
      <p:sp>
        <p:nvSpPr>
          <p:cNvPr id="321" name="Google Shape;321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DATE-06.04.2026</a:t>
            </a:r>
            <a:endParaRPr/>
          </a:p>
        </p:txBody>
      </p:sp>
      <p:sp>
        <p:nvSpPr>
          <p:cNvPr id="322" name="Google Shape;322;p38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8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Confidential 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PROBLEM STATEMENTS</a:t>
            </a:r>
            <a:endParaRPr/>
          </a:p>
        </p:txBody>
      </p:sp>
      <p:sp>
        <p:nvSpPr>
          <p:cNvPr id="329" name="Google Shape;329;p39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30" name="Google Shape;330;p39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03</a:t>
            </a:r>
            <a:endParaRPr/>
          </a:p>
        </p:txBody>
      </p:sp>
      <p:sp>
        <p:nvSpPr>
          <p:cNvPr id="331" name="Google Shape;331;p39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332" name="Google Shape;332;p39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AND ARCHITECTURE</a:t>
            </a:r>
            <a:endParaRPr/>
          </a:p>
        </p:txBody>
      </p:sp>
      <p:sp>
        <p:nvSpPr>
          <p:cNvPr id="333" name="Google Shape;333;p39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05</a:t>
            </a:r>
            <a:endParaRPr/>
          </a:p>
        </p:txBody>
      </p:sp>
      <p:sp>
        <p:nvSpPr>
          <p:cNvPr id="334" name="Google Shape;334;p39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335" name="Google Shape;335;p39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CODE,CONCLUSION </a:t>
            </a:r>
            <a:endParaRPr/>
          </a:p>
        </p:txBody>
      </p:sp>
      <p:sp>
        <p:nvSpPr>
          <p:cNvPr id="336" name="Google Shape;336;p39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15</a:t>
            </a:r>
            <a:endParaRPr/>
          </a:p>
        </p:txBody>
      </p:sp>
      <p:sp>
        <p:nvSpPr>
          <p:cNvPr id="337" name="Google Shape;337;p39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338" name="Google Shape;338;p39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OF MODELS /FEW SS ATTACHED</a:t>
            </a:r>
            <a:endParaRPr/>
          </a:p>
        </p:txBody>
      </p:sp>
      <p:sp>
        <p:nvSpPr>
          <p:cNvPr id="339" name="Google Shape;339;p39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07</a:t>
            </a:r>
            <a:endParaRPr/>
          </a:p>
        </p:txBody>
      </p:sp>
      <p:sp>
        <p:nvSpPr>
          <p:cNvPr id="340" name="Google Shape;340;p39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41" name="Google Shape;341;p39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MODELS</a:t>
            </a:r>
            <a:endParaRPr/>
          </a:p>
        </p:txBody>
      </p:sp>
      <p:sp>
        <p:nvSpPr>
          <p:cNvPr id="342" name="Google Shape;342;p39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04</a:t>
            </a:r>
            <a:endParaRPr/>
          </a:p>
        </p:txBody>
      </p:sp>
      <p:sp>
        <p:nvSpPr>
          <p:cNvPr id="343" name="Google Shape;343;p39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344" name="Google Shape;344;p39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COMPARISONS AND KEY FINDINGS</a:t>
            </a:r>
            <a:endParaRPr/>
          </a:p>
        </p:txBody>
      </p:sp>
      <p:sp>
        <p:nvSpPr>
          <p:cNvPr id="345" name="Google Shape;345;p39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14</a:t>
            </a:r>
            <a:endParaRPr/>
          </a:p>
        </p:txBody>
      </p:sp>
      <p:sp>
        <p:nvSpPr>
          <p:cNvPr id="346" name="Google Shape;346;p39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347" name="Google Shape;347;p39"/>
          <p:cNvCxnSpPr/>
          <p:nvPr/>
        </p:nvCxnSpPr>
        <p:spPr>
          <a:xfrm>
            <a:off x="3602113" y="2653375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9"/>
          <p:cNvCxnSpPr/>
          <p:nvPr/>
        </p:nvCxnSpPr>
        <p:spPr>
          <a:xfrm>
            <a:off x="228588" y="2653375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9"/>
          <p:cNvCxnSpPr/>
          <p:nvPr/>
        </p:nvCxnSpPr>
        <p:spPr>
          <a:xfrm>
            <a:off x="228588" y="43779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3602113" y="43779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9"/>
          <p:cNvCxnSpPr/>
          <p:nvPr/>
        </p:nvCxnSpPr>
        <p:spPr>
          <a:xfrm>
            <a:off x="228588" y="35156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9"/>
          <p:cNvCxnSpPr/>
          <p:nvPr/>
        </p:nvCxnSpPr>
        <p:spPr>
          <a:xfrm>
            <a:off x="3602113" y="3515688"/>
            <a:ext cx="6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Google Shape;357;p40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0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0"/>
          <p:cNvSpPr txBox="1"/>
          <p:nvPr>
            <p:ph idx="7" type="subTitle"/>
          </p:nvPr>
        </p:nvSpPr>
        <p:spPr>
          <a:xfrm>
            <a:off x="267575" y="748150"/>
            <a:ext cx="5818800" cy="6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Why Automated Evaluation of DTMs?</a:t>
            </a:r>
            <a:endParaRPr sz="1400"/>
          </a:p>
        </p:txBody>
      </p:sp>
      <p:sp>
        <p:nvSpPr>
          <p:cNvPr id="362" name="Google Shape;362;p40"/>
          <p:cNvSpPr txBox="1"/>
          <p:nvPr>
            <p:ph idx="13" type="subTitle"/>
          </p:nvPr>
        </p:nvSpPr>
        <p:spPr>
          <a:xfrm>
            <a:off x="267575" y="1052075"/>
            <a:ext cx="6847800" cy="12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Topic Models (DTMs) capture how topics evolve over time in large corpora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them is challenging: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change across time slices → need coherence + temporal consistency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evaluation is expensive and hard to scale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metrics (NPMI, TTS, TTC) may not reflect true interpretability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Gap: LLMs have been used for static topic model evaluation but never systematically tested on dynamic models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fills that gap.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0"/>
          <p:cNvSpPr txBox="1"/>
          <p:nvPr>
            <p:ph type="title"/>
          </p:nvPr>
        </p:nvSpPr>
        <p:spPr>
          <a:xfrm>
            <a:off x="1731443" y="158746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PROBLEM</a:t>
            </a:r>
            <a:endParaRPr/>
          </a:p>
        </p:txBody>
      </p:sp>
      <p:sp>
        <p:nvSpPr>
          <p:cNvPr id="364" name="Google Shape;364;p40"/>
          <p:cNvSpPr txBox="1"/>
          <p:nvPr/>
        </p:nvSpPr>
        <p:spPr>
          <a:xfrm>
            <a:off x="267575" y="2862575"/>
            <a:ext cx="24807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RESEARCH QUESTIONS: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40"/>
          <p:cNvSpPr txBox="1"/>
          <p:nvPr/>
        </p:nvSpPr>
        <p:spPr>
          <a:xfrm>
            <a:off x="194825" y="3291425"/>
            <a:ext cx="85725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1.How well do LLM-based evaluations correlate with human annotations of dynamic topic models?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2.Do LLM scores better approximate human judgments than automated metrics (NPMI)?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3.In what cases do LLMs overestimate or underestimate topic quality?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4.Can LLMs serve as a proxy for human evaluation in DTM assessment?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226325" y="143175"/>
            <a:ext cx="85497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 AND MODELS : EXPERIMENTAL SETUP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1"/>
          <p:cNvSpPr txBox="1"/>
          <p:nvPr/>
        </p:nvSpPr>
        <p:spPr>
          <a:xfrm>
            <a:off x="254275" y="741025"/>
            <a:ext cx="8703300" cy="4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DTM MODELS EVALUATED: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1.DLDA (Dynamic Latent Dirichlet Allocation)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2.DETM (Dynamic Embedded Topic Model)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DATASETS: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1.NeurIPS papers (1987–2019)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2.New York Times (NYT)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3.UN General Debates (unDebates)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LLMs USED VIA OPENROUTER/HUGGING FACE API: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Llama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3.1-8B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2.Qwen 2.5-7B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3.Mistral-7B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4.DeepSeek R1 Distill 8B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/>
          <p:nvPr>
            <p:ph type="title"/>
          </p:nvPr>
        </p:nvSpPr>
        <p:spPr>
          <a:xfrm>
            <a:off x="212450" y="177900"/>
            <a:ext cx="8664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EVALUATION TASKS-METHODOLOGY- AS PER PDF</a:t>
            </a:r>
            <a:endParaRPr/>
          </a:p>
        </p:txBody>
      </p:sp>
      <p:sp>
        <p:nvSpPr>
          <p:cNvPr id="377" name="Google Shape;377;p42"/>
          <p:cNvSpPr txBox="1"/>
          <p:nvPr>
            <p:ph idx="1" type="body"/>
          </p:nvPr>
        </p:nvSpPr>
        <p:spPr>
          <a:xfrm>
            <a:off x="672825" y="826075"/>
            <a:ext cx="7276200" cy="33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Task 1 — Temporal Topic Coherence And Smoothness: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LLM top words at time t-1, t, t+1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word relatedness (1-3) and transition smoothness (1-3)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Mirrors exactly what human annotators rated on Prolific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Task 2 — Temporal Intrusion Detection: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one intruder word from a different topic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LLM to identify the odd word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topic coherence at a single time step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Task 3 — Topic Evolution Quality: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topic word evolution across 3 time windows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classifies: Meaningful evolution / Minor drift / Incoherent change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Captures semantic shift 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PIPELINE ARCHITECTURE</a:t>
            </a:r>
            <a:endParaRPr/>
          </a:p>
        </p:txBody>
      </p:sp>
      <p:sp>
        <p:nvSpPr>
          <p:cNvPr id="383" name="Google Shape;383;p43"/>
          <p:cNvSpPr txBox="1"/>
          <p:nvPr>
            <p:ph idx="1" type="body"/>
          </p:nvPr>
        </p:nvSpPr>
        <p:spPr>
          <a:xfrm>
            <a:off x="4904725" y="1751400"/>
            <a:ext cx="3755700" cy="16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</a:t>
            </a:r>
            <a:r>
              <a:rPr lang="en"/>
              <a:t>: Topic word files (.txt) — one file per year, one line per topic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Prompt Builder</a:t>
            </a:r>
            <a:r>
              <a:rPr lang="en"/>
              <a:t>: Constructs Task 1/2/3 prompts using top-10 words per topic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API Call</a:t>
            </a:r>
            <a:r>
              <a:rPr lang="en"/>
              <a:t>: Sends prompts to 4 LLMs via OpenRouter and Hugging Face Router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Parser</a:t>
            </a:r>
            <a:r>
              <a:rPr lang="en"/>
              <a:t>: Extracts JSON scores, handles reasoning model outputs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Output</a:t>
            </a:r>
            <a:r>
              <a:rPr lang="en"/>
              <a:t>: CSV files per model/dataset/DTM combination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43" title="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760325"/>
            <a:ext cx="4246525" cy="39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212450" y="177900"/>
            <a:ext cx="84399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RESULTS-FEW execution samples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90" name="Google Shape;390;p44"/>
          <p:cNvSpPr txBox="1"/>
          <p:nvPr>
            <p:ph idx="1" type="body"/>
          </p:nvPr>
        </p:nvSpPr>
        <p:spPr>
          <a:xfrm>
            <a:off x="232700" y="701375"/>
            <a:ext cx="5658900" cy="3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MISTRAL 7B -RAN IN CPU</a:t>
            </a:r>
            <a:endParaRPr/>
          </a:p>
        </p:txBody>
      </p:sp>
      <p:pic>
        <p:nvPicPr>
          <p:cNvPr id="391" name="Google Shape;391;p44" title="mistral 7b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25" y="1000575"/>
            <a:ext cx="8746651" cy="344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4"/>
          <p:cNvSpPr txBox="1"/>
          <p:nvPr/>
        </p:nvSpPr>
        <p:spPr>
          <a:xfrm>
            <a:off x="203425" y="4540525"/>
            <a:ext cx="8674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Temporal Coherence and Smoothness Evaluation By Mistral 7B.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/>
          <p:nvPr/>
        </p:nvSpPr>
        <p:spPr>
          <a:xfrm rot="-5400000">
            <a:off x="7602600" y="3599525"/>
            <a:ext cx="2601300" cy="24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8" name="Google Shape;398;p45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399" name="Google Shape;399;p45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</p:txBody>
      </p:sp>
      <p:sp>
        <p:nvSpPr>
          <p:cNvPr id="400" name="Google Shape;400;p45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any challenges, issues, or setbacks the company encountered during this period. </a:t>
            </a:r>
            <a:endParaRPr/>
          </a:p>
        </p:txBody>
      </p:sp>
      <p:sp>
        <p:nvSpPr>
          <p:cNvPr id="401" name="Google Shape;401;p45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5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5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5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any challenges, issues, or setbacks the company encountered during this period. </a:t>
            </a:r>
            <a:endParaRPr/>
          </a:p>
        </p:txBody>
      </p:sp>
      <p:sp>
        <p:nvSpPr>
          <p:cNvPr id="405" name="Google Shape;405;p45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a challenge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5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5"/>
          <p:cNvSpPr txBox="1"/>
          <p:nvPr/>
        </p:nvSpPr>
        <p:spPr>
          <a:xfrm>
            <a:off x="2286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08" name="Google Shape;408;p45"/>
          <p:cNvCxnSpPr/>
          <p:nvPr/>
        </p:nvCxnSpPr>
        <p:spPr>
          <a:xfrm>
            <a:off x="228639" y="2213625"/>
            <a:ext cx="104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45"/>
          <p:cNvSpPr txBox="1"/>
          <p:nvPr/>
        </p:nvSpPr>
        <p:spPr>
          <a:xfrm>
            <a:off x="228588" y="3389100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10" name="Google Shape;410;p45"/>
          <p:cNvCxnSpPr/>
          <p:nvPr/>
        </p:nvCxnSpPr>
        <p:spPr>
          <a:xfrm>
            <a:off x="228625" y="3601400"/>
            <a:ext cx="10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5"/>
          <p:cNvSpPr txBox="1"/>
          <p:nvPr/>
        </p:nvSpPr>
        <p:spPr>
          <a:xfrm>
            <a:off x="4625400" y="2001325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12" name="Google Shape;412;p45"/>
          <p:cNvCxnSpPr/>
          <p:nvPr/>
        </p:nvCxnSpPr>
        <p:spPr>
          <a:xfrm>
            <a:off x="4625434" y="2213625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5"/>
          <p:cNvSpPr txBox="1"/>
          <p:nvPr/>
        </p:nvSpPr>
        <p:spPr>
          <a:xfrm>
            <a:off x="4625388" y="3389100"/>
            <a:ext cx="25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 sz="1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414" name="Google Shape;414;p45"/>
          <p:cNvCxnSpPr/>
          <p:nvPr/>
        </p:nvCxnSpPr>
        <p:spPr>
          <a:xfrm>
            <a:off x="4625425" y="3601400"/>
            <a:ext cx="127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5" name="Google Shape;415;p45" title="mistral 7b 4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00" y="588950"/>
            <a:ext cx="8742523" cy="39656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5"/>
          <p:cNvSpPr txBox="1"/>
          <p:nvPr/>
        </p:nvSpPr>
        <p:spPr>
          <a:xfrm>
            <a:off x="218200" y="4559000"/>
            <a:ext cx="8525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Evaluation Summary  by LLM-MISTRAL 7B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1" name="Google Shape;421;p46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46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the impact of this external industry challenge on the business, and discuss potential solutions. </a:t>
            </a:r>
            <a:endParaRPr/>
          </a:p>
        </p:txBody>
      </p:sp>
      <p:sp>
        <p:nvSpPr>
          <p:cNvPr id="423" name="Google Shape;423;p46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4" name="Google Shape;424;p46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5" name="Google Shape;425;p46"/>
          <p:cNvSpPr txBox="1"/>
          <p:nvPr>
            <p:ph type="title"/>
          </p:nvPr>
        </p:nvSpPr>
        <p:spPr>
          <a:xfrm>
            <a:off x="141051" y="271575"/>
            <a:ext cx="70833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RESULTS FOR MISTRAL</a:t>
            </a:r>
            <a:endParaRPr/>
          </a:p>
        </p:txBody>
      </p:sp>
      <p:sp>
        <p:nvSpPr>
          <p:cNvPr id="426" name="Google Shape;426;p46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challenge here</a:t>
            </a:r>
            <a:endParaRPr/>
          </a:p>
        </p:txBody>
      </p:sp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TO RESOURCE</a:t>
            </a:r>
            <a:endParaRPr/>
          </a:p>
        </p:txBody>
      </p:sp>
      <p:pic>
        <p:nvPicPr>
          <p:cNvPr id="428" name="Google Shape;428;p46" title="mistral 7b results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881625"/>
            <a:ext cx="8281550" cy="34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6"/>
          <p:cNvSpPr txBox="1"/>
          <p:nvPr/>
        </p:nvSpPr>
        <p:spPr>
          <a:xfrm>
            <a:off x="280550" y="4520050"/>
            <a:ext cx="81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Overall Correlation Summary of Mistral 7B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2.LLAMA RESULTS-task 1</a:t>
            </a:r>
            <a:endParaRPr/>
          </a:p>
        </p:txBody>
      </p:sp>
      <p:sp>
        <p:nvSpPr>
          <p:cNvPr id="435" name="Google Shape;435;p47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Give a project overview, including roadblocks, root causes of underperformance, and potential solutions for next quarter.</a:t>
            </a:r>
            <a:endParaRPr/>
          </a:p>
        </p:txBody>
      </p:sp>
      <p:sp>
        <p:nvSpPr>
          <p:cNvPr id="436" name="Google Shape;436;p47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challenge here</a:t>
            </a:r>
            <a:endParaRPr/>
          </a:p>
        </p:txBody>
      </p:sp>
      <p:cxnSp>
        <p:nvCxnSpPr>
          <p:cNvPr id="437" name="Google Shape;437;p47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8" name="Google Shape;438;p47" title="DldaLlamaNeuripsTASK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25" y="732550"/>
            <a:ext cx="8521325" cy="421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8"/>
          <p:cNvSpPr txBox="1"/>
          <p:nvPr>
            <p:ph type="title"/>
          </p:nvPr>
        </p:nvSpPr>
        <p:spPr>
          <a:xfrm>
            <a:off x="212450" y="177900"/>
            <a:ext cx="644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RESULTS-task 2</a:t>
            </a:r>
            <a:endParaRPr/>
          </a:p>
        </p:txBody>
      </p:sp>
      <p:sp>
        <p:nvSpPr>
          <p:cNvPr id="444" name="Google Shape;444;p48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Summarize the internal setback, its causes, and lessons learned.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Recommend preventative measures.</a:t>
            </a:r>
            <a:endParaRPr/>
          </a:p>
        </p:txBody>
      </p:sp>
      <p:sp>
        <p:nvSpPr>
          <p:cNvPr id="445" name="Google Shape;445;p48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challenge here</a:t>
            </a:r>
            <a:endParaRPr/>
          </a:p>
        </p:txBody>
      </p:sp>
      <p:sp>
        <p:nvSpPr>
          <p:cNvPr id="446" name="Google Shape;446;p48"/>
          <p:cNvSpPr/>
          <p:nvPr/>
        </p:nvSpPr>
        <p:spPr>
          <a:xfrm>
            <a:off x="0" y="2680075"/>
            <a:ext cx="9144000" cy="24633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7" name="Google Shape;447;p48"/>
          <p:cNvSpPr txBox="1"/>
          <p:nvPr/>
        </p:nvSpPr>
        <p:spPr>
          <a:xfrm>
            <a:off x="228637" y="3373800"/>
            <a:ext cx="15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STEP 1</a:t>
            </a:r>
            <a:endParaRPr sz="3000">
              <a:solidFill>
                <a:schemeClr val="lt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448" name="Google Shape;448;p48"/>
          <p:cNvSpPr txBox="1"/>
          <p:nvPr/>
        </p:nvSpPr>
        <p:spPr>
          <a:xfrm>
            <a:off x="3435746" y="3373800"/>
            <a:ext cx="15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STEP 2</a:t>
            </a:r>
            <a:endParaRPr sz="3000">
              <a:solidFill>
                <a:schemeClr val="lt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449" name="Google Shape;449;p48"/>
          <p:cNvSpPr txBox="1"/>
          <p:nvPr/>
        </p:nvSpPr>
        <p:spPr>
          <a:xfrm>
            <a:off x="6642854" y="3373800"/>
            <a:ext cx="15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rPr>
              <a:t>STEP 3</a:t>
            </a:r>
            <a:endParaRPr sz="3000">
              <a:solidFill>
                <a:schemeClr val="lt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cxnSp>
        <p:nvCxnSpPr>
          <p:cNvPr id="450" name="Google Shape;450;p48"/>
          <p:cNvCxnSpPr/>
          <p:nvPr/>
        </p:nvCxnSpPr>
        <p:spPr>
          <a:xfrm>
            <a:off x="1893468" y="3604650"/>
            <a:ext cx="1422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51" name="Google Shape;451;p48"/>
          <p:cNvCxnSpPr/>
          <p:nvPr/>
        </p:nvCxnSpPr>
        <p:spPr>
          <a:xfrm>
            <a:off x="5100563" y="3604650"/>
            <a:ext cx="1422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52" name="Google Shape;452;p48"/>
          <p:cNvSpPr txBox="1"/>
          <p:nvPr/>
        </p:nvSpPr>
        <p:spPr>
          <a:xfrm>
            <a:off x="244926" y="3941750"/>
            <a:ext cx="227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Explain how you’ll address this challenge. Make sure it’s clear what needs to be done.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48"/>
          <p:cNvSpPr txBox="1"/>
          <p:nvPr/>
        </p:nvSpPr>
        <p:spPr>
          <a:xfrm>
            <a:off x="3443907" y="3941750"/>
            <a:ext cx="227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Specify who or which teams will be responsible for implementing each step in the action plan. 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48"/>
          <p:cNvSpPr txBox="1"/>
          <p:nvPr/>
        </p:nvSpPr>
        <p:spPr>
          <a:xfrm>
            <a:off x="6642854" y="3941750"/>
            <a:ext cx="2272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Add specific deadlines or milestones for each step.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48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6" name="Google Shape;456;p48" title="DldaNeuripsLLamaTASK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7300"/>
            <a:ext cx="9144000" cy="451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9"/>
          <p:cNvSpPr/>
          <p:nvPr/>
        </p:nvSpPr>
        <p:spPr>
          <a:xfrm>
            <a:off x="2743250" y="2473325"/>
            <a:ext cx="2439000" cy="2439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1358150" y="3314225"/>
            <a:ext cx="1598100" cy="1598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3" name="Google Shape;463;p49"/>
          <p:cNvSpPr txBox="1"/>
          <p:nvPr>
            <p:ph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464" name="Google Shape;464;p4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growth</a:t>
            </a:r>
            <a:endParaRPr/>
          </a:p>
        </p:txBody>
      </p:sp>
      <p:sp>
        <p:nvSpPr>
          <p:cNvPr id="465" name="Google Shape;465;p49"/>
          <p:cNvSpPr txBox="1"/>
          <p:nvPr>
            <p:ph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466" name="Google Shape;466;p4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 rate</a:t>
            </a:r>
            <a:endParaRPr/>
          </a:p>
        </p:txBody>
      </p:sp>
      <p:sp>
        <p:nvSpPr>
          <p:cNvPr id="467" name="Google Shape;467;p49"/>
          <p:cNvSpPr txBox="1"/>
          <p:nvPr>
            <p:ph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00%</a:t>
            </a:r>
            <a:endParaRPr/>
          </a:p>
        </p:txBody>
      </p:sp>
      <p:sp>
        <p:nvSpPr>
          <p:cNvPr id="468" name="Google Shape;468;p4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retention</a:t>
            </a:r>
            <a:endParaRPr/>
          </a:p>
        </p:txBody>
      </p:sp>
      <p:sp>
        <p:nvSpPr>
          <p:cNvPr id="469" name="Google Shape;469;p49"/>
          <p:cNvSpPr txBox="1"/>
          <p:nvPr>
            <p:ph idx="4" type="title"/>
          </p:nvPr>
        </p:nvSpPr>
        <p:spPr>
          <a:xfrm>
            <a:off x="212450" y="177900"/>
            <a:ext cx="56457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RESULTS-task 3 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70" name="Google Shape;470;p49" title="LLAMAtask3neuripsdl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50" y="745800"/>
            <a:ext cx="8650651" cy="416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"/>
          <p:cNvSpPr txBox="1"/>
          <p:nvPr>
            <p:ph type="title"/>
          </p:nvPr>
        </p:nvSpPr>
        <p:spPr>
          <a:xfrm>
            <a:off x="670225" y="498775"/>
            <a:ext cx="7972500" cy="100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</a:rPr>
              <a:t>Q</a:t>
            </a:r>
            <a:r>
              <a:rPr lang="en" sz="3000">
                <a:solidFill>
                  <a:schemeClr val="accent2"/>
                </a:solidFill>
              </a:rPr>
              <a:t>WEN </a:t>
            </a:r>
            <a:r>
              <a:rPr lang="en" sz="3000">
                <a:solidFill>
                  <a:schemeClr val="accent2"/>
                </a:solidFill>
              </a:rPr>
              <a:t>,</a:t>
            </a:r>
            <a:r>
              <a:rPr lang="en" sz="3000">
                <a:solidFill>
                  <a:schemeClr val="accent2"/>
                </a:solidFill>
              </a:rPr>
              <a:t>DEEP SEEK</a:t>
            </a:r>
            <a:r>
              <a:rPr lang="en" sz="3000">
                <a:solidFill>
                  <a:schemeClr val="accent2"/>
                </a:solidFill>
              </a:rPr>
              <a:t> - These Models also ran and all their CSVs are Attached in Repo.</a:t>
            </a:r>
            <a:endParaRPr sz="3000">
              <a:solidFill>
                <a:schemeClr val="accent2"/>
              </a:solidFill>
            </a:endParaRPr>
          </a:p>
        </p:txBody>
      </p:sp>
      <p:sp>
        <p:nvSpPr>
          <p:cNvPr id="476" name="Google Shape;476;p50"/>
          <p:cNvSpPr txBox="1"/>
          <p:nvPr/>
        </p:nvSpPr>
        <p:spPr>
          <a:xfrm>
            <a:off x="3436800" y="1956100"/>
            <a:ext cx="4488900" cy="29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wen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2.5 7B: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Completed: DLDA × neurips, nyt, unDebates (all 3 tasks)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Coherence scores: mostly 3/3 (strong positivity bias)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Smoothness: more variance than Llama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Limitation: Free tier credit exhaustion on some combinations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DeepSeek R1 Distill 8B: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Completed: DLDA × neurips, nyt (coherence + intrusion + evolution)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Uses chain-of-thought reasoning before scoring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More nuanced scores due to reasoning approach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Limitation: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Hugging Face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free tier credits exhausted mid-run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1"/>
          <p:cNvSpPr txBox="1"/>
          <p:nvPr>
            <p:ph type="title"/>
          </p:nvPr>
        </p:nvSpPr>
        <p:spPr>
          <a:xfrm>
            <a:off x="212450" y="177900"/>
            <a:ext cx="64470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COMPARISONS AND KEY FINDINGS</a:t>
            </a:r>
            <a:endParaRPr sz="2800"/>
          </a:p>
        </p:txBody>
      </p:sp>
      <p:cxnSp>
        <p:nvCxnSpPr>
          <p:cNvPr id="482" name="Google Shape;482;p51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51"/>
          <p:cNvSpPr txBox="1"/>
          <p:nvPr>
            <p:ph idx="2" type="subTitle"/>
          </p:nvPr>
        </p:nvSpPr>
        <p:spPr>
          <a:xfrm>
            <a:off x="230434" y="881700"/>
            <a:ext cx="6447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1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5" name="Google Shape;485;p51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86" name="Google Shape;486;p51" title="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25" y="794100"/>
            <a:ext cx="8662950" cy="41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1" name="Google Shape;491;p52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52"/>
          <p:cNvSpPr/>
          <p:nvPr/>
        </p:nvSpPr>
        <p:spPr>
          <a:xfrm rot="5400000">
            <a:off x="8232450" y="-442947"/>
            <a:ext cx="11400" cy="1354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3" name="Google Shape;493;p52"/>
          <p:cNvSpPr/>
          <p:nvPr/>
        </p:nvSpPr>
        <p:spPr>
          <a:xfrm rot="5400000">
            <a:off x="6911175" y="-137100"/>
            <a:ext cx="11400" cy="7428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4" name="Google Shape;494;p52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KEY FINDINGS</a:t>
            </a:r>
            <a:endParaRPr/>
          </a:p>
        </p:txBody>
      </p:sp>
      <p:sp>
        <p:nvSpPr>
          <p:cNvPr id="495" name="Google Shape;495;p52"/>
          <p:cNvSpPr txBox="1"/>
          <p:nvPr/>
        </p:nvSpPr>
        <p:spPr>
          <a:xfrm>
            <a:off x="312400" y="929900"/>
            <a:ext cx="74610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LLMs can evaluate DTMs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— scores correlate meaningfully with human annotations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Llama and Qwen perform best 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— MODERATE correlation with human judgments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LLMs outperform NPMI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— better proxy for human evaluation than traditional metrics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DLDA vs DETM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— LLM evaluation reveals quality differences between models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5.</a:t>
            </a: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Evolution task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— most unique contribution, captures temporal dynamics NPMI cannot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52"/>
          <p:cNvSpPr txBox="1"/>
          <p:nvPr/>
        </p:nvSpPr>
        <p:spPr>
          <a:xfrm>
            <a:off x="312400" y="2641900"/>
            <a:ext cx="501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GITHUB AND CODE: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52"/>
          <p:cNvSpPr txBox="1"/>
          <p:nvPr/>
        </p:nvSpPr>
        <p:spPr>
          <a:xfrm>
            <a:off x="312400" y="3057400"/>
            <a:ext cx="8035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https://github.com/Harshavardhan-2001GIT/DTM-LLM-EVALUATION-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3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503" name="Google Shape;503;p53"/>
          <p:cNvSpPr txBox="1"/>
          <p:nvPr/>
        </p:nvSpPr>
        <p:spPr>
          <a:xfrm>
            <a:off x="435900" y="844225"/>
            <a:ext cx="7591800" cy="18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AutoNum type="arabicPeriod"/>
            </a:pPr>
            <a:r>
              <a:rPr lang="en" sz="1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LLM-based evaluation is a viable and scalable alternative to human annotation for DTMs.</a:t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AutoNum type="arabicPeriod"/>
            </a:pPr>
            <a:r>
              <a:rPr lang="en" sz="1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 open-source 8B models tested across 2 DTMs and 3 datasets.</a:t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mpact"/>
              <a:buAutoNum type="arabicPeriod"/>
            </a:pPr>
            <a:r>
              <a:rPr lang="en" sz="1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Moderate but Meaningful Correlation with human judgments, especially for coherence.</a:t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4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09" name="Google Shape;509;p54"/>
          <p:cNvSpPr txBox="1"/>
          <p:nvPr/>
        </p:nvSpPr>
        <p:spPr>
          <a:xfrm>
            <a:off x="1920600" y="2991550"/>
            <a:ext cx="5302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PRESENTED BY - </a:t>
            </a: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HARSHAVARDHAN KASTHURI UMASHANKAR</a:t>
            </a:r>
            <a:endParaRPr b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